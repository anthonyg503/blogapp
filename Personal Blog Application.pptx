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18"/>
  </p:notesMasterIdLst>
  <p:handoutMasterIdLst>
    <p:handoutMasterId r:id="rId19"/>
  </p:handoutMasterIdLst>
  <p:sldIdLst>
    <p:sldId id="256" r:id="rId5"/>
    <p:sldId id="259" r:id="rId6"/>
    <p:sldId id="261" r:id="rId7"/>
    <p:sldId id="264" r:id="rId8"/>
    <p:sldId id="263" r:id="rId9"/>
    <p:sldId id="262" r:id="rId10"/>
    <p:sldId id="265" r:id="rId11"/>
    <p:sldId id="266" r:id="rId12"/>
    <p:sldId id="267" r:id="rId13"/>
    <p:sldId id="268" r:id="rId14"/>
    <p:sldId id="269" r:id="rId15"/>
    <p:sldId id="270"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8" autoAdjust="0"/>
  </p:normalViewPr>
  <p:slideViewPr>
    <p:cSldViewPr snapToGrid="0">
      <p:cViewPr varScale="1">
        <p:scale>
          <a:sx n="69" d="100"/>
          <a:sy n="69" d="100"/>
        </p:scale>
        <p:origin x="994"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a:lstStyle/>
        <a:p>
          <a:endParaRPr lang="en-US"/>
        </a:p>
      </dgm:t>
    </dgm:pt>
    <dgm:pt modelId="{6750AC01-D39D-4F3A-9DC8-2A211EE986A2}">
      <dgm:prSet phldrT="[Text]"/>
      <dgm:spPr/>
      <dgm:t>
        <a:bodyPr/>
        <a:lstStyle/>
        <a:p>
          <a:pPr>
            <a:lnSpc>
              <a:spcPct val="100000"/>
            </a:lnSpc>
          </a:pPr>
          <a:r>
            <a:rPr lang="en-US" dirty="0"/>
            <a:t>Backend: Spring Boot	</a:t>
          </a:r>
        </a:p>
      </dgm:t>
    </dgm:pt>
    <dgm:pt modelId="{720680DC-AAA4-4434-A582-60EBCC5BA355}" type="parTrans" cxnId="{0B5DAE5F-BCDC-4BF7-A6E7-CF856886A64D}">
      <dgm:prSet/>
      <dgm:spPr/>
      <dgm:t>
        <a:bodyPr/>
        <a:lstStyle/>
        <a:p>
          <a:endParaRPr lang="en-US"/>
        </a:p>
      </dgm:t>
    </dgm:pt>
    <dgm:pt modelId="{CA077D98-8478-47EA-B6A9-99ACE60C64D4}" type="sibTrans" cxnId="{0B5DAE5F-BCDC-4BF7-A6E7-CF856886A64D}">
      <dgm:prSet/>
      <dgm:spPr/>
      <dgm:t>
        <a:bodyPr/>
        <a:lstStyle/>
        <a:p>
          <a:endParaRPr lang="en-US"/>
        </a:p>
      </dgm:t>
    </dgm:pt>
    <dgm:pt modelId="{0BEF68B8-1228-47BB-83B5-7B9CD1E3F84E}">
      <dgm:prSet phldrT="[Text]"/>
      <dgm:spPr/>
      <dgm:t>
        <a:bodyPr/>
        <a:lstStyle/>
        <a:p>
          <a:pPr>
            <a:lnSpc>
              <a:spcPct val="100000"/>
            </a:lnSpc>
          </a:pPr>
          <a:r>
            <a:rPr lang="es-MX" dirty="0" err="1"/>
            <a:t>Frontend</a:t>
          </a:r>
          <a:r>
            <a:rPr lang="es-MX" dirty="0"/>
            <a:t>:  Angular</a:t>
          </a:r>
          <a:endParaRPr lang="en-US" dirty="0"/>
        </a:p>
      </dgm:t>
    </dgm:pt>
    <dgm:pt modelId="{ED3A4BC2-B75A-4952-A38B-A42B5995DF05}" type="parTrans" cxnId="{EDEF4F82-1237-4639-A0F7-385C1897CE66}">
      <dgm:prSet/>
      <dgm:spPr/>
      <dgm:t>
        <a:bodyPr/>
        <a:lstStyle/>
        <a:p>
          <a:endParaRPr lang="en-US"/>
        </a:p>
      </dgm:t>
    </dgm:pt>
    <dgm:pt modelId="{FD949706-EDCC-4ADC-8EDF-8EDA49C92325}" type="sibTrans" cxnId="{EDEF4F82-1237-4639-A0F7-385C1897CE66}">
      <dgm:prSet/>
      <dgm:spPr/>
      <dgm:t>
        <a:bodyPr/>
        <a:lstStyle/>
        <a:p>
          <a:endParaRPr lang="en-US"/>
        </a:p>
      </dgm:t>
    </dgm:pt>
    <dgm:pt modelId="{5605D28D-2CE6-4513-8566-952984E21E14}">
      <dgm:prSet phldrT="[Text]"/>
      <dgm:spPr/>
      <dgm:t>
        <a:bodyPr/>
        <a:lstStyle/>
        <a:p>
          <a:pPr>
            <a:lnSpc>
              <a:spcPct val="100000"/>
            </a:lnSpc>
          </a:pPr>
          <a:r>
            <a:rPr lang="en-US" dirty="0"/>
            <a:t>Database: MySQL</a:t>
          </a:r>
        </a:p>
      </dgm:t>
    </dgm:pt>
    <dgm:pt modelId="{EB15AB98-362B-4E70-A3DA-995FC3E8BA79}" type="parTrans" cxnId="{FAF3F884-F0CF-440F-8CB1-B7648AB1B138}">
      <dgm:prSet/>
      <dgm:spPr/>
      <dgm:t>
        <a:bodyPr/>
        <a:lstStyle/>
        <a:p>
          <a:endParaRPr lang="en-US"/>
        </a:p>
      </dgm:t>
    </dgm:pt>
    <dgm:pt modelId="{823D1971-2C4D-4EC5-A874-2F463DE37109}" type="sibTrans" cxnId="{FAF3F884-F0CF-440F-8CB1-B7648AB1B138}">
      <dgm:prSet/>
      <dgm:spPr/>
      <dgm:t>
        <a:bodyPr/>
        <a:lstStyle/>
        <a:p>
          <a:endParaRPr lang="en-US"/>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3"/>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3"/>
      <dgm:spPr/>
    </dgm:pt>
    <dgm:pt modelId="{429CABD1-4116-474B-81BF-735E2CA9DD00}" type="pres">
      <dgm:prSet presAssocID="{7E5AA53B-3EEE-4DE4-BB81-9044890C2946}" presName="dstNode" presStyleLbl="node1" presStyleIdx="0" presStyleCnt="3"/>
      <dgm:spPr/>
    </dgm:pt>
    <dgm:pt modelId="{58319267-C71E-43C9-94E1-827D0616C7A7}" type="pres">
      <dgm:prSet presAssocID="{6750AC01-D39D-4F3A-9DC8-2A211EE986A2}" presName="text_1" presStyleLbl="node1" presStyleIdx="0" presStyleCnt="3">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3"/>
      <dgm:spPr/>
    </dgm:pt>
    <dgm:pt modelId="{95DE6538-27BD-44AF-A1A8-CA8F6B10FDD2}" type="pres">
      <dgm:prSet presAssocID="{0BEF68B8-1228-47BB-83B5-7B9CD1E3F84E}" presName="text_2" presStyleLbl="node1" presStyleIdx="1" presStyleCnt="3">
        <dgm:presLayoutVars>
          <dgm:bulletEnabled val="1"/>
        </dgm:presLayoutVars>
      </dgm:prSet>
      <dgm:spPr/>
    </dgm:pt>
    <dgm:pt modelId="{312BDEE8-85BD-4F02-B35B-2CC8E701C98B}"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3"/>
      <dgm:spPr/>
    </dgm:pt>
    <dgm:pt modelId="{E131CE4A-9776-44F4-BC03-867682E21374}" type="pres">
      <dgm:prSet presAssocID="{5605D28D-2CE6-4513-8566-952984E21E14}" presName="text_3" presStyleLbl="node1" presStyleIdx="2" presStyleCnt="3">
        <dgm:presLayoutVars>
          <dgm:bulletEnabled val="1"/>
        </dgm:presLayoutVars>
      </dgm:prSet>
      <dgm:spPr/>
    </dgm:pt>
    <dgm:pt modelId="{AC9A216A-8375-48F9-A4E6-8E0B64C0209B}" type="pres">
      <dgm:prSet presAssocID="{5605D28D-2CE6-4513-8566-952984E21E14}" presName="accent_3" presStyleCnt="0"/>
      <dgm:spPr/>
    </dgm:pt>
    <dgm:pt modelId="{A965097E-32F1-4AB8-8C4E-2814A7596B2F}" type="pres">
      <dgm:prSet presAssocID="{5605D28D-2CE6-4513-8566-952984E21E14}" presName="accentRepeatNode" presStyleLbl="solidFgAcc1" presStyleIdx="2" presStyleCnt="3"/>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7084AA77-BACB-46CB-AE4A-77B62D3ED1AF}" type="presOf" srcId="{5605D28D-2CE6-4513-8566-952984E21E14}" destId="{E131CE4A-9776-44F4-BC03-867682E21374}"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FAF3F884-F0CF-440F-8CB1-B7648AB1B138}" srcId="{7E5AA53B-3EEE-4DE4-BB81-9044890C2946}" destId="{5605D28D-2CE6-4513-8566-952984E21E14}" srcOrd="2"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4A378892-5CCC-4F0D-8A38-4BEAECF30F24}" type="presOf" srcId="{0BEF68B8-1228-47BB-83B5-7B9CD1E3F84E}" destId="{95DE6538-27BD-44AF-A1A8-CA8F6B10FDD2}"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602753E6-8A03-492B-861A-6B9532B5AA28}" type="presParOf" srcId="{90561C55-3C6E-4D53-85E1-2C50BCDDA392}" destId="{95DE6538-27BD-44AF-A1A8-CA8F6B10FDD2}" srcOrd="3" destOrd="0" presId="urn:microsoft.com/office/officeart/2008/layout/VerticalCurvedList"/>
    <dgm:cxn modelId="{AEC540A3-E86A-4075-8BE4-263F4AFF4EA1}" type="presParOf" srcId="{90561C55-3C6E-4D53-85E1-2C50BCDDA392}" destId="{312BDEE8-85BD-4F02-B35B-2CC8E701C98B}" srcOrd="4" destOrd="0" presId="urn:microsoft.com/office/officeart/2008/layout/VerticalCurvedList"/>
    <dgm:cxn modelId="{CD5D1014-B7CB-4B47-9A02-5FBF90928A73}" type="presParOf" srcId="{312BDEE8-85BD-4F02-B35B-2CC8E701C98B}" destId="{3F8116AC-FAC3-4E95-9865-93CCFEB191B9}" srcOrd="0" destOrd="0" presId="urn:microsoft.com/office/officeart/2008/layout/VerticalCurvedList"/>
    <dgm:cxn modelId="{987EB7C0-CA3E-4874-85E0-01E9060A2D35}" type="presParOf" srcId="{90561C55-3C6E-4D53-85E1-2C50BCDDA392}" destId="{E131CE4A-9776-44F4-BC03-867682E21374}" srcOrd="5" destOrd="0" presId="urn:microsoft.com/office/officeart/2008/layout/VerticalCurvedList"/>
    <dgm:cxn modelId="{91E55363-8DCA-455E-A203-06A9410994CB}" type="presParOf" srcId="{90561C55-3C6E-4D53-85E1-2C50BCDDA392}" destId="{AC9A216A-8375-48F9-A4E6-8E0B64C0209B}" srcOrd="6" destOrd="0" presId="urn:microsoft.com/office/officeart/2008/layout/VerticalCurvedList"/>
    <dgm:cxn modelId="{D866D586-1293-4049-B6E3-B467C1D5ED64}" type="presParOf" srcId="{AC9A216A-8375-48F9-A4E6-8E0B64C0209B}" destId="{A965097E-32F1-4AB8-8C4E-2814A7596B2F}" srcOrd="0" destOrd="0" presId="urn:microsoft.com/office/officeart/2008/layout/VerticalCurv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496568" y="356393"/>
          <a:ext cx="6310391"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anchor="ctr" anchorCtr="0">
          <a:noAutofit/>
        </a:bodyPr>
        <a:lstStyle/>
        <a:p>
          <a:pPr marL="0" lvl="0" indent="0" algn="l" defTabSz="1555750">
            <a:lnSpc>
              <a:spcPct val="100000"/>
            </a:lnSpc>
            <a:spcBef>
              <a:spcPct val="0"/>
            </a:spcBef>
            <a:spcAft>
              <a:spcPct val="35000"/>
            </a:spcAft>
            <a:buNone/>
          </a:pPr>
          <a:r>
            <a:rPr lang="en-US" sz="3500" kern="1200" dirty="0"/>
            <a:t>Backend: Spring Boot	</a:t>
          </a:r>
        </a:p>
      </dsp:txBody>
      <dsp:txXfrm>
        <a:off x="496568" y="356393"/>
        <a:ext cx="6310391" cy="712787"/>
      </dsp:txXfrm>
    </dsp:sp>
    <dsp:sp modelId="{07CB3071-D555-47DA-A36A-69EB91531FD8}">
      <dsp:nvSpPr>
        <dsp:cNvPr id="0" name=""/>
        <dsp:cNvSpPr/>
      </dsp:nvSpPr>
      <dsp:spPr>
        <a:xfrm>
          <a:off x="51076" y="267295"/>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DE6538-27BD-44AF-A1A8-CA8F6B10FDD2}">
      <dsp:nvSpPr>
        <dsp:cNvPr id="0" name=""/>
        <dsp:cNvSpPr/>
      </dsp:nvSpPr>
      <dsp:spPr>
        <a:xfrm>
          <a:off x="755666" y="1425575"/>
          <a:ext cx="6051292"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anchor="ctr" anchorCtr="0">
          <a:noAutofit/>
        </a:bodyPr>
        <a:lstStyle/>
        <a:p>
          <a:pPr marL="0" lvl="0" indent="0" algn="l" defTabSz="1555750">
            <a:lnSpc>
              <a:spcPct val="100000"/>
            </a:lnSpc>
            <a:spcBef>
              <a:spcPct val="0"/>
            </a:spcBef>
            <a:spcAft>
              <a:spcPct val="35000"/>
            </a:spcAft>
            <a:buNone/>
          </a:pPr>
          <a:r>
            <a:rPr lang="es-MX" sz="3500" kern="1200" dirty="0" err="1"/>
            <a:t>Frontend</a:t>
          </a:r>
          <a:r>
            <a:rPr lang="es-MX" sz="3500" kern="1200" dirty="0"/>
            <a:t>:  Angular</a:t>
          </a:r>
          <a:endParaRPr lang="en-US" sz="3500" kern="1200" dirty="0"/>
        </a:p>
      </dsp:txBody>
      <dsp:txXfrm>
        <a:off x="755666" y="1425575"/>
        <a:ext cx="6051292" cy="712787"/>
      </dsp:txXfrm>
    </dsp:sp>
    <dsp:sp modelId="{3F8116AC-FAC3-4E95-9865-93CCFEB191B9}">
      <dsp:nvSpPr>
        <dsp:cNvPr id="0" name=""/>
        <dsp:cNvSpPr/>
      </dsp:nvSpPr>
      <dsp:spPr>
        <a:xfrm>
          <a:off x="310174" y="1336476"/>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131CE4A-9776-44F4-BC03-867682E21374}">
      <dsp:nvSpPr>
        <dsp:cNvPr id="0" name=""/>
        <dsp:cNvSpPr/>
      </dsp:nvSpPr>
      <dsp:spPr>
        <a:xfrm>
          <a:off x="496568" y="2494756"/>
          <a:ext cx="6310391"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anchor="ctr" anchorCtr="0">
          <a:noAutofit/>
        </a:bodyPr>
        <a:lstStyle/>
        <a:p>
          <a:pPr marL="0" lvl="0" indent="0" algn="l" defTabSz="1555750">
            <a:lnSpc>
              <a:spcPct val="100000"/>
            </a:lnSpc>
            <a:spcBef>
              <a:spcPct val="0"/>
            </a:spcBef>
            <a:spcAft>
              <a:spcPct val="35000"/>
            </a:spcAft>
            <a:buNone/>
          </a:pPr>
          <a:r>
            <a:rPr lang="en-US" sz="3500" kern="1200" dirty="0"/>
            <a:t>Database: MySQL</a:t>
          </a:r>
        </a:p>
      </dsp:txBody>
      <dsp:txXfrm>
        <a:off x="496568" y="2494756"/>
        <a:ext cx="6310391" cy="712787"/>
      </dsp:txXfrm>
    </dsp:sp>
    <dsp:sp modelId="{A965097E-32F1-4AB8-8C4E-2814A7596B2F}">
      <dsp:nvSpPr>
        <dsp:cNvPr id="0" name=""/>
        <dsp:cNvSpPr/>
      </dsp:nvSpPr>
      <dsp:spPr>
        <a:xfrm>
          <a:off x="51076" y="2405658"/>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4/12/2025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4/12/2025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3505115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8</a:t>
            </a:fld>
            <a:endParaRPr lang="en-US" dirty="0"/>
          </a:p>
        </p:txBody>
      </p:sp>
    </p:spTree>
    <p:extLst>
      <p:ext uri="{BB962C8B-B14F-4D97-AF65-F5344CB8AC3E}">
        <p14:creationId xmlns:p14="http://schemas.microsoft.com/office/powerpoint/2010/main" val="1158616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9</a:t>
            </a:fld>
            <a:endParaRPr lang="en-US" dirty="0"/>
          </a:p>
        </p:txBody>
      </p:sp>
    </p:spTree>
    <p:extLst>
      <p:ext uri="{BB962C8B-B14F-4D97-AF65-F5344CB8AC3E}">
        <p14:creationId xmlns:p14="http://schemas.microsoft.com/office/powerpoint/2010/main" val="2208531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13</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4/12/2025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4/12/2025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4/12/2025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4/12/2025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4/12/2025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4/12/2025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hyperlink" Target="https://www.heaptrace.com/what-is-angular-what-are-the-benefits-of-using-angular/" TargetMode="External"/><Relationship Id="rId3" Type="http://schemas.openxmlformats.org/officeDocument/2006/relationships/image" Target="../media/image2.jpg"/><Relationship Id="rId7" Type="http://schemas.openxmlformats.org/officeDocument/2006/relationships/diagramQuickStyle" Target="../diagrams/quickStyle1.xml"/><Relationship Id="rId12"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hyperlink" Target="https://x8795278.blogspot.com/2019/07/openresty-nginx-redis.html" TargetMode="External"/><Relationship Id="rId5" Type="http://schemas.openxmlformats.org/officeDocument/2006/relationships/diagramData" Target="../diagrams/data1.xml"/><Relationship Id="rId15" Type="http://schemas.openxmlformats.org/officeDocument/2006/relationships/hyperlink" Target="https://www.riscascape.net/archives/3421" TargetMode="External"/><Relationship Id="rId10" Type="http://schemas.openxmlformats.org/officeDocument/2006/relationships/image" Target="../media/image3.png"/><Relationship Id="rId4" Type="http://schemas.openxmlformats.org/officeDocument/2006/relationships/hyperlink" Target="https://www.imageshine.in/gallery/blue-texture-background-hd-images-free-download" TargetMode="External"/><Relationship Id="rId9" Type="http://schemas.microsoft.com/office/2007/relationships/diagramDrawing" Target="../diagrams/drawing1.xml"/><Relationship Id="rId1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zmo.ai/blue-background-hd/" TargetMode="Externa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zmo.ai/blue-background-hd/" TargetMode="Externa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alexkosarev.name/tag/spring-boot/"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www.angularminds.com/blog/angular-17-new-feature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www.riscascape.net/archives/342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bstract blue design with wavy lines and dots">
            <a:extLst>
              <a:ext uri="{FF2B5EF4-FFF2-40B4-BE49-F238E27FC236}">
                <a16:creationId xmlns:a16="http://schemas.microsoft.com/office/drawing/2014/main" id="{3840F91C-EDD0-4D4E-A4AB-E6C77856C88C}"/>
              </a:ext>
            </a:extLst>
          </p:cNvPr>
          <p:cNvPicPr>
            <a:picLocks noChangeAspect="1"/>
          </p:cNvPicPr>
          <p:nvPr/>
        </p:nvPicPr>
        <p:blipFill>
          <a:blip r:embed="rId3"/>
          <a:srcRect l="31250" r="31250"/>
          <a:stretch/>
        </p:blipFill>
        <p:spPr>
          <a:xfrm rot="5400000">
            <a:off x="2667011" y="-2666989"/>
            <a:ext cx="6857999" cy="1219198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000" dirty="0">
                <a:solidFill>
                  <a:schemeClr val="bg1"/>
                </a:solidFill>
              </a:rPr>
              <a:t>Personal Blog Application</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fontScale="70000" lnSpcReduction="20000"/>
          </a:bodyPr>
          <a:lstStyle/>
          <a:p>
            <a:r>
              <a:rPr lang="en-US" dirty="0">
                <a:solidFill>
                  <a:srgbClr val="7CEBFF"/>
                </a:solidFill>
              </a:rPr>
              <a:t>A BLOG APPLICATION FOR PERSONAL USE  WITH customization and interactivity.</a:t>
            </a:r>
          </a:p>
          <a:p>
            <a:r>
              <a:rPr lang="en-US" dirty="0">
                <a:solidFill>
                  <a:srgbClr val="7CEBFF"/>
                </a:solidFill>
              </a:rPr>
              <a:t>Author: Anthony Gonzalez</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Content Placeholder 4">
            <a:extLst>
              <a:ext uri="{FF2B5EF4-FFF2-40B4-BE49-F238E27FC236}">
                <a16:creationId xmlns:a16="http://schemas.microsoft.com/office/drawing/2014/main" id="{EA70616B-E344-4856-8DF9-707C26236613}"/>
              </a:ext>
            </a:extLst>
          </p:cNvPr>
          <p:cNvPicPr>
            <a:picLocks noChangeAspect="1"/>
          </p:cNvPicPr>
          <p:nvPr/>
        </p:nvPicPr>
        <p:blipFill>
          <a:blip r:embed="rId3">
            <a:extLst>
              <a:ext uri="{837473B0-CC2E-450A-ABE3-18F120FF3D39}">
                <a1611:picAttrSrcUrl xmlns:a1611="http://schemas.microsoft.com/office/drawing/2016/11/main" r:id="rId4"/>
              </a:ext>
            </a:extLst>
          </a:blip>
          <a:srcRect t="8333" b="8333"/>
          <a:stretch/>
        </p:blipFill>
        <p:spPr>
          <a:xfrm>
            <a:off x="20" y="10"/>
            <a:ext cx="12191980" cy="6857990"/>
          </a:xfrm>
          <a:prstGeom prst="rect">
            <a:avLst/>
          </a:prstGeom>
        </p:spPr>
      </p:pic>
      <p:grpSp>
        <p:nvGrpSpPr>
          <p:cNvPr id="15" name="Group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anchor="ctr">
            <a:normAutofit/>
          </a:bodyPr>
          <a:lstStyle/>
          <a:p>
            <a:pPr algn="ctr"/>
            <a:r>
              <a:rPr lang="en-US" dirty="0"/>
              <a:t>Technologies</a:t>
            </a:r>
          </a:p>
        </p:txBody>
      </p:sp>
      <p:graphicFrame>
        <p:nvGraphicFramePr>
          <p:cNvPr id="6" name="Content Placeholder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1470547729"/>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2" name="Picture 11" descr="A green hexagon with a white power button&#10;&#10;AI-generated content may be incorrect.">
            <a:extLst>
              <a:ext uri="{FF2B5EF4-FFF2-40B4-BE49-F238E27FC236}">
                <a16:creationId xmlns:a16="http://schemas.microsoft.com/office/drawing/2014/main" id="{6DB3DD18-51A3-7F72-A42C-A7EFE4BF236F}"/>
              </a:ext>
              <a:ext uri="{C183D7F6-B498-43B3-948B-1728B52AA6E4}">
                <adec:decorative xmlns:adec="http://schemas.microsoft.com/office/drawing/2017/decorative" val="0"/>
              </a:ext>
            </a:extLst>
          </p:cNvPr>
          <p:cNvPicPr>
            <a:picLocks noChangeAspect="1"/>
          </p:cNvPicPr>
          <p:nvPr/>
        </p:nvPicPr>
        <p:blipFill>
          <a:blip r:embed="rId10">
            <a:extLst>
              <a:ext uri="{837473B0-CC2E-450A-ABE3-18F120FF3D39}">
                <a1611:picAttrSrcUrl xmlns:a1611="http://schemas.microsoft.com/office/drawing/2016/11/main" r:id="rId11"/>
              </a:ext>
            </a:extLst>
          </a:blip>
          <a:stretch>
            <a:fillRect/>
          </a:stretch>
        </p:blipFill>
        <p:spPr>
          <a:xfrm>
            <a:off x="795867" y="2499183"/>
            <a:ext cx="838200" cy="86359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0" name="Picture 19" descr="A red and white logo&#10;&#10;AI-generated content may be incorrect.">
            <a:extLst>
              <a:ext uri="{FF2B5EF4-FFF2-40B4-BE49-F238E27FC236}">
                <a16:creationId xmlns:a16="http://schemas.microsoft.com/office/drawing/2014/main" id="{0F347386-B609-3FB2-A70A-10186B1A4B66}"/>
              </a:ext>
            </a:extLst>
          </p:cNvPr>
          <p:cNvPicPr>
            <a:picLocks noChangeAspect="1"/>
          </p:cNvPicPr>
          <p:nvPr/>
        </p:nvPicPr>
        <p:blipFill>
          <a:blip r:embed="rId12">
            <a:extLst>
              <a:ext uri="{837473B0-CC2E-450A-ABE3-18F120FF3D39}">
                <a1611:picAttrSrcUrl xmlns:a1611="http://schemas.microsoft.com/office/drawing/2016/11/main" r:id="rId13"/>
              </a:ext>
            </a:extLst>
          </a:blip>
          <a:stretch>
            <a:fillRect/>
          </a:stretch>
        </p:blipFill>
        <p:spPr>
          <a:xfrm>
            <a:off x="1041304" y="3561123"/>
            <a:ext cx="838200" cy="8382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 name="Picture 2" descr="A blue and orange yin yang symbol&#10;&#10;AI-generated content may be incorrect.">
            <a:extLst>
              <a:ext uri="{FF2B5EF4-FFF2-40B4-BE49-F238E27FC236}">
                <a16:creationId xmlns:a16="http://schemas.microsoft.com/office/drawing/2014/main" id="{C11B5F79-228F-11FF-5A8F-C062C68E485B}"/>
              </a:ext>
            </a:extLst>
          </p:cNvPr>
          <p:cNvPicPr>
            <a:picLocks noChangeAspect="1"/>
          </p:cNvPicPr>
          <p:nvPr/>
        </p:nvPicPr>
        <p:blipFill>
          <a:blip r:embed="rId14">
            <a:extLst>
              <a:ext uri="{837473B0-CC2E-450A-ABE3-18F120FF3D39}">
                <a1611:picAttrSrcUrl xmlns:a1611="http://schemas.microsoft.com/office/drawing/2016/11/main" r:id="rId15"/>
              </a:ext>
            </a:extLst>
          </a:blip>
          <a:stretch>
            <a:fillRect/>
          </a:stretch>
        </p:blipFill>
        <p:spPr>
          <a:xfrm>
            <a:off x="795867" y="4631263"/>
            <a:ext cx="838200" cy="86359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209322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C622F-6F17-1B9A-E65C-3ED534BA408D}"/>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52BBFA58-03AD-4F7F-9082-7C100AC50DBD}"/>
              </a:ext>
            </a:extLst>
          </p:cNvPr>
          <p:cNvSpPr>
            <a:spLocks noGrp="1"/>
          </p:cNvSpPr>
          <p:nvPr>
            <p:ph idx="1"/>
          </p:nvPr>
        </p:nvSpPr>
        <p:spPr/>
        <p:txBody>
          <a:bodyPr>
            <a:normAutofit fontScale="92500"/>
          </a:bodyPr>
          <a:lstStyle/>
          <a:p>
            <a:r>
              <a:rPr lang="en-US" dirty="0"/>
              <a:t>This Application came up as an idea because I have always liked to write, whether it be for college, personal or work. </a:t>
            </a:r>
          </a:p>
          <a:p>
            <a:r>
              <a:rPr lang="en-US" dirty="0"/>
              <a:t>The main objective is for a user to add content to the application which they could read, edit or delete. and post a comment about it, much like the social media of today. The user has some customization of the website by selecting the color they would like as a background or the “post-cards” (the content itself).</a:t>
            </a:r>
          </a:p>
          <a:p>
            <a:r>
              <a:rPr lang="en-US" dirty="0"/>
              <a:t>Each view or “page” can be customized by the user choosing a color to use, this can be done in the homepage, blog page where all blogs are listed, and an expanded view/page of the blogpost they desire (by clicking on the blogpost itself).</a:t>
            </a:r>
          </a:p>
          <a:p>
            <a:r>
              <a:rPr lang="en-US" dirty="0"/>
              <a:t>The Blogs can be edited from the “All Blogs” view or expand it (click the blogpost) and do it in the blog expanded page.</a:t>
            </a:r>
          </a:p>
          <a:p>
            <a:r>
              <a:rPr lang="en-US" dirty="0"/>
              <a:t>From the Homepage, the user can select to go to all the blogs or create a new blog. </a:t>
            </a:r>
          </a:p>
          <a:p>
            <a:r>
              <a:rPr lang="en-US" dirty="0"/>
              <a:t>The blog can be taught of a “CRUD” app, as it involves creating, updating and deleting content.</a:t>
            </a:r>
          </a:p>
          <a:p>
            <a:endParaRPr lang="en-US" dirty="0"/>
          </a:p>
        </p:txBody>
      </p:sp>
    </p:spTree>
    <p:extLst>
      <p:ext uri="{BB962C8B-B14F-4D97-AF65-F5344CB8AC3E}">
        <p14:creationId xmlns:p14="http://schemas.microsoft.com/office/powerpoint/2010/main" val="3634654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FD6F1-753E-A2AC-475C-F63035F15635}"/>
              </a:ext>
            </a:extLst>
          </p:cNvPr>
          <p:cNvSpPr>
            <a:spLocks noGrp="1"/>
          </p:cNvSpPr>
          <p:nvPr>
            <p:ph type="title"/>
          </p:nvPr>
        </p:nvSpPr>
        <p:spPr/>
        <p:txBody>
          <a:bodyPr/>
          <a:lstStyle/>
          <a:p>
            <a:r>
              <a:rPr lang="en-US" dirty="0"/>
              <a:t>Features</a:t>
            </a:r>
          </a:p>
        </p:txBody>
      </p:sp>
      <p:sp>
        <p:nvSpPr>
          <p:cNvPr id="3" name="Content Placeholder 2">
            <a:extLst>
              <a:ext uri="{FF2B5EF4-FFF2-40B4-BE49-F238E27FC236}">
                <a16:creationId xmlns:a16="http://schemas.microsoft.com/office/drawing/2014/main" id="{A56A2C51-0C68-28AC-8C70-F30808CCDD4E}"/>
              </a:ext>
            </a:extLst>
          </p:cNvPr>
          <p:cNvSpPr>
            <a:spLocks noGrp="1"/>
          </p:cNvSpPr>
          <p:nvPr>
            <p:ph idx="1"/>
          </p:nvPr>
        </p:nvSpPr>
        <p:spPr/>
        <p:txBody>
          <a:bodyPr>
            <a:normAutofit fontScale="92500"/>
          </a:bodyPr>
          <a:lstStyle/>
          <a:p>
            <a:r>
              <a:rPr lang="en-US" dirty="0"/>
              <a:t>Welcome page or “Homepage” where a user can choose to view the blogs already present in the database or create their own. The background can be customized changing the color with the “background color” option.</a:t>
            </a:r>
          </a:p>
          <a:p>
            <a:r>
              <a:rPr lang="en-US" dirty="0"/>
              <a:t>The homepage has a message which is called from the backed via a REST API call.</a:t>
            </a:r>
          </a:p>
          <a:p>
            <a:r>
              <a:rPr lang="en-US" dirty="0"/>
              <a:t>The “All blogs” view/page lists all the blog-post, user can see them as well as edit or delete them. User can also choose to look for blogs choosing different categories, this view also contains the feature to customize the background. </a:t>
            </a:r>
          </a:p>
          <a:p>
            <a:r>
              <a:rPr lang="en-US" dirty="0"/>
              <a:t>The blogs can be expanded to their own view, here users can decide to edit, remove or comment on the blog, this page also contains the feature to change the background color. </a:t>
            </a:r>
          </a:p>
          <a:p>
            <a:r>
              <a:rPr lang="en-US" dirty="0"/>
              <a:t>The “All Blogs” view as well as the expanded view can be used to edit or remove a blog as well as comment on them. </a:t>
            </a:r>
          </a:p>
          <a:p>
            <a:r>
              <a:rPr lang="en-US" dirty="0"/>
              <a:t>When a color is changed, it persist throughout the website, meaning that if red is chosen on the homepage and the user routes back from the all-blogs view, it will remain the color that was chosen before, this goes for all the views/pages.</a:t>
            </a:r>
          </a:p>
        </p:txBody>
      </p:sp>
    </p:spTree>
    <p:extLst>
      <p:ext uri="{BB962C8B-B14F-4D97-AF65-F5344CB8AC3E}">
        <p14:creationId xmlns:p14="http://schemas.microsoft.com/office/powerpoint/2010/main" val="3042920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10000" b="-10000"/>
          </a:stretch>
        </a:blipFill>
        <a:effectLst/>
      </p:bgPr>
    </p:bg>
    <p:spTree>
      <p:nvGrpSpPr>
        <p:cNvPr id="1" name="">
          <a:extLst>
            <a:ext uri="{FF2B5EF4-FFF2-40B4-BE49-F238E27FC236}">
              <a16:creationId xmlns:a16="http://schemas.microsoft.com/office/drawing/2014/main" id="{0D35DA14-7152-EDF7-A36F-BC92CA831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FA25A3-A9D4-BB2F-9AFE-F8AC146E22F5}"/>
              </a:ext>
            </a:extLst>
          </p:cNvPr>
          <p:cNvSpPr>
            <a:spLocks noGrp="1"/>
          </p:cNvSpPr>
          <p:nvPr>
            <p:ph type="title"/>
          </p:nvPr>
        </p:nvSpPr>
        <p:spPr/>
        <p:txBody>
          <a:bodyPr/>
          <a:lstStyle/>
          <a:p>
            <a:r>
              <a:rPr lang="en-US" dirty="0"/>
              <a:t>Architecture diagram</a:t>
            </a:r>
          </a:p>
        </p:txBody>
      </p:sp>
      <p:sp>
        <p:nvSpPr>
          <p:cNvPr id="7" name="TextBox 6">
            <a:extLst>
              <a:ext uri="{FF2B5EF4-FFF2-40B4-BE49-F238E27FC236}">
                <a16:creationId xmlns:a16="http://schemas.microsoft.com/office/drawing/2014/main" id="{2D81251C-A64F-9524-F9B7-490974FD5445}"/>
              </a:ext>
            </a:extLst>
          </p:cNvPr>
          <p:cNvSpPr txBox="1"/>
          <p:nvPr/>
        </p:nvSpPr>
        <p:spPr>
          <a:xfrm>
            <a:off x="581192" y="2383971"/>
            <a:ext cx="1606836" cy="120032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Web browser (in this scenario localhost:4200)</a:t>
            </a:r>
          </a:p>
        </p:txBody>
      </p:sp>
      <p:cxnSp>
        <p:nvCxnSpPr>
          <p:cNvPr id="9" name="Straight Arrow Connector 8">
            <a:extLst>
              <a:ext uri="{FF2B5EF4-FFF2-40B4-BE49-F238E27FC236}">
                <a16:creationId xmlns:a16="http://schemas.microsoft.com/office/drawing/2014/main" id="{9636ACD1-AE4A-983D-F8F6-31933B8CA288}"/>
              </a:ext>
            </a:extLst>
          </p:cNvPr>
          <p:cNvCxnSpPr>
            <a:cxnSpLocks/>
          </p:cNvCxnSpPr>
          <p:nvPr/>
        </p:nvCxnSpPr>
        <p:spPr>
          <a:xfrm>
            <a:off x="2188028" y="2845636"/>
            <a:ext cx="805543" cy="0"/>
          </a:xfrm>
          <a:prstGeom prst="straightConnector1">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166007A-B16C-2FFE-4D4B-18404A969F2E}"/>
              </a:ext>
            </a:extLst>
          </p:cNvPr>
          <p:cNvSpPr txBox="1"/>
          <p:nvPr/>
        </p:nvSpPr>
        <p:spPr>
          <a:xfrm>
            <a:off x="3143829" y="2505950"/>
            <a:ext cx="1284515"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HTTP Request </a:t>
            </a:r>
          </a:p>
        </p:txBody>
      </p:sp>
      <p:cxnSp>
        <p:nvCxnSpPr>
          <p:cNvPr id="12" name="Straight Arrow Connector 11">
            <a:extLst>
              <a:ext uri="{FF2B5EF4-FFF2-40B4-BE49-F238E27FC236}">
                <a16:creationId xmlns:a16="http://schemas.microsoft.com/office/drawing/2014/main" id="{4F1E98E6-71B7-E2BE-7BB5-EB3B1B3A6B1D}"/>
              </a:ext>
            </a:extLst>
          </p:cNvPr>
          <p:cNvCxnSpPr>
            <a:cxnSpLocks/>
          </p:cNvCxnSpPr>
          <p:nvPr/>
        </p:nvCxnSpPr>
        <p:spPr>
          <a:xfrm>
            <a:off x="4412445" y="2829116"/>
            <a:ext cx="971700" cy="1652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D60F48D-4A68-EEB8-AF12-017BDE795467}"/>
              </a:ext>
            </a:extLst>
          </p:cNvPr>
          <p:cNvSpPr txBox="1"/>
          <p:nvPr/>
        </p:nvSpPr>
        <p:spPr>
          <a:xfrm>
            <a:off x="5600128" y="2529034"/>
            <a:ext cx="1785257"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REST API call to backend</a:t>
            </a:r>
          </a:p>
        </p:txBody>
      </p:sp>
      <p:cxnSp>
        <p:nvCxnSpPr>
          <p:cNvPr id="22" name="Straight Arrow Connector 21">
            <a:extLst>
              <a:ext uri="{FF2B5EF4-FFF2-40B4-BE49-F238E27FC236}">
                <a16:creationId xmlns:a16="http://schemas.microsoft.com/office/drawing/2014/main" id="{0C65CB5B-528D-9485-8E3B-BDC339CD3D8E}"/>
              </a:ext>
            </a:extLst>
          </p:cNvPr>
          <p:cNvCxnSpPr>
            <a:cxnSpLocks/>
            <a:stCxn id="13" idx="3"/>
          </p:cNvCxnSpPr>
          <p:nvPr/>
        </p:nvCxnSpPr>
        <p:spPr>
          <a:xfrm flipV="1">
            <a:off x="7385385" y="2852199"/>
            <a:ext cx="1143005"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2F63044-E455-3657-6FCD-CE569C171D77}"/>
              </a:ext>
            </a:extLst>
          </p:cNvPr>
          <p:cNvSpPr txBox="1"/>
          <p:nvPr/>
        </p:nvSpPr>
        <p:spPr>
          <a:xfrm>
            <a:off x="8610600" y="2291638"/>
            <a:ext cx="2786743" cy="9233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Controllers: First call is done to the “</a:t>
            </a:r>
            <a:r>
              <a:rPr lang="en-US" dirty="0" err="1"/>
              <a:t>WelcomeController</a:t>
            </a:r>
            <a:r>
              <a:rPr lang="en-US" dirty="0"/>
              <a:t>”</a:t>
            </a:r>
          </a:p>
        </p:txBody>
      </p:sp>
      <p:sp>
        <p:nvSpPr>
          <p:cNvPr id="30" name="TextBox 29">
            <a:extLst>
              <a:ext uri="{FF2B5EF4-FFF2-40B4-BE49-F238E27FC236}">
                <a16:creationId xmlns:a16="http://schemas.microsoft.com/office/drawing/2014/main" id="{FA36000E-4103-D3AC-8071-144D4E9749D9}"/>
              </a:ext>
            </a:extLst>
          </p:cNvPr>
          <p:cNvSpPr txBox="1"/>
          <p:nvPr/>
        </p:nvSpPr>
        <p:spPr>
          <a:xfrm>
            <a:off x="6338639" y="4005636"/>
            <a:ext cx="2286132"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Services: </a:t>
            </a:r>
            <a:r>
              <a:rPr lang="en-US" dirty="0" err="1"/>
              <a:t>BlogService</a:t>
            </a:r>
            <a:endParaRPr lang="en-US" dirty="0"/>
          </a:p>
        </p:txBody>
      </p:sp>
      <p:cxnSp>
        <p:nvCxnSpPr>
          <p:cNvPr id="6" name="Straight Arrow Connector 5">
            <a:extLst>
              <a:ext uri="{FF2B5EF4-FFF2-40B4-BE49-F238E27FC236}">
                <a16:creationId xmlns:a16="http://schemas.microsoft.com/office/drawing/2014/main" id="{3F6212C6-59C9-4A5B-E684-FE51CA311B07}"/>
              </a:ext>
            </a:extLst>
          </p:cNvPr>
          <p:cNvCxnSpPr>
            <a:cxnSpLocks/>
          </p:cNvCxnSpPr>
          <p:nvPr/>
        </p:nvCxnSpPr>
        <p:spPr>
          <a:xfrm flipH="1">
            <a:off x="8683859" y="4216079"/>
            <a:ext cx="589859"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F01E397-2737-8B17-FBDC-236152956C54}"/>
              </a:ext>
            </a:extLst>
          </p:cNvPr>
          <p:cNvCxnSpPr>
            <a:cxnSpLocks/>
          </p:cNvCxnSpPr>
          <p:nvPr/>
        </p:nvCxnSpPr>
        <p:spPr>
          <a:xfrm flipH="1" flipV="1">
            <a:off x="5195634" y="4213343"/>
            <a:ext cx="1143005"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916A73-2CB8-3AB2-AE50-4BD0178674C6}"/>
              </a:ext>
            </a:extLst>
          </p:cNvPr>
          <p:cNvSpPr txBox="1"/>
          <p:nvPr/>
        </p:nvSpPr>
        <p:spPr>
          <a:xfrm>
            <a:off x="2995087" y="3865725"/>
            <a:ext cx="2033336" cy="9233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Repository: </a:t>
            </a:r>
            <a:r>
              <a:rPr lang="en-US" dirty="0" err="1"/>
              <a:t>BlogRespository</a:t>
            </a:r>
            <a:endParaRPr lang="en-US" dirty="0"/>
          </a:p>
          <a:p>
            <a:endParaRPr lang="en-US" dirty="0"/>
          </a:p>
        </p:txBody>
      </p:sp>
      <p:cxnSp>
        <p:nvCxnSpPr>
          <p:cNvPr id="20" name="Straight Arrow Connector 19">
            <a:extLst>
              <a:ext uri="{FF2B5EF4-FFF2-40B4-BE49-F238E27FC236}">
                <a16:creationId xmlns:a16="http://schemas.microsoft.com/office/drawing/2014/main" id="{190D9972-BD57-2BDB-4173-053FAB19FE82}"/>
              </a:ext>
            </a:extLst>
          </p:cNvPr>
          <p:cNvCxnSpPr>
            <a:cxnSpLocks/>
          </p:cNvCxnSpPr>
          <p:nvPr/>
        </p:nvCxnSpPr>
        <p:spPr>
          <a:xfrm flipH="1" flipV="1">
            <a:off x="2163192" y="4230436"/>
            <a:ext cx="829601"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61C7576-17B6-B431-79F2-E208EAC6805A}"/>
              </a:ext>
            </a:extLst>
          </p:cNvPr>
          <p:cNvSpPr txBox="1"/>
          <p:nvPr/>
        </p:nvSpPr>
        <p:spPr>
          <a:xfrm>
            <a:off x="581192" y="3895055"/>
            <a:ext cx="1497981"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Database (MySQL)</a:t>
            </a:r>
          </a:p>
        </p:txBody>
      </p:sp>
      <p:sp>
        <p:nvSpPr>
          <p:cNvPr id="26" name="TextBox 25">
            <a:extLst>
              <a:ext uri="{FF2B5EF4-FFF2-40B4-BE49-F238E27FC236}">
                <a16:creationId xmlns:a16="http://schemas.microsoft.com/office/drawing/2014/main" id="{3FDBFA16-A8CB-0BAA-BEC4-54950E3416F6}"/>
              </a:ext>
            </a:extLst>
          </p:cNvPr>
          <p:cNvSpPr txBox="1"/>
          <p:nvPr/>
        </p:nvSpPr>
        <p:spPr>
          <a:xfrm>
            <a:off x="9273718" y="3827699"/>
            <a:ext cx="1739992" cy="9233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err="1"/>
              <a:t>BlogControler</a:t>
            </a:r>
            <a:r>
              <a:rPr lang="en-US" dirty="0"/>
              <a:t> for CRUD operations.</a:t>
            </a:r>
          </a:p>
        </p:txBody>
      </p:sp>
      <p:cxnSp>
        <p:nvCxnSpPr>
          <p:cNvPr id="31" name="Straight Arrow Connector 30">
            <a:extLst>
              <a:ext uri="{FF2B5EF4-FFF2-40B4-BE49-F238E27FC236}">
                <a16:creationId xmlns:a16="http://schemas.microsoft.com/office/drawing/2014/main" id="{854E674C-DDEC-CCA6-6824-A3C5C927FF0E}"/>
              </a:ext>
            </a:extLst>
          </p:cNvPr>
          <p:cNvCxnSpPr>
            <a:cxnSpLocks/>
            <a:endCxn id="26" idx="0"/>
          </p:cNvCxnSpPr>
          <p:nvPr/>
        </p:nvCxnSpPr>
        <p:spPr>
          <a:xfrm>
            <a:off x="9604300" y="3244335"/>
            <a:ext cx="539414" cy="5833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FDB61570-F082-42A1-0B1E-15D43F05ACBA}"/>
              </a:ext>
            </a:extLst>
          </p:cNvPr>
          <p:cNvSpPr txBox="1"/>
          <p:nvPr/>
        </p:nvSpPr>
        <p:spPr>
          <a:xfrm>
            <a:off x="581192" y="5504064"/>
            <a:ext cx="2870272"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User interacts with frontend (starts process/application)</a:t>
            </a:r>
          </a:p>
        </p:txBody>
      </p:sp>
      <p:sp>
        <p:nvSpPr>
          <p:cNvPr id="40" name="TextBox 39">
            <a:extLst>
              <a:ext uri="{FF2B5EF4-FFF2-40B4-BE49-F238E27FC236}">
                <a16:creationId xmlns:a16="http://schemas.microsoft.com/office/drawing/2014/main" id="{047DC9BA-F5D5-6E19-73B5-7A3AA25F451E}"/>
              </a:ext>
            </a:extLst>
          </p:cNvPr>
          <p:cNvSpPr txBox="1"/>
          <p:nvPr/>
        </p:nvSpPr>
        <p:spPr>
          <a:xfrm>
            <a:off x="4828674" y="1926146"/>
            <a:ext cx="1876926" cy="738664"/>
          </a:xfrm>
          <a:prstGeom prst="rect">
            <a:avLst/>
          </a:prstGeom>
          <a:noFill/>
        </p:spPr>
        <p:txBody>
          <a:bodyPr wrap="square" rtlCol="0">
            <a:spAutoFit/>
          </a:bodyPr>
          <a:lstStyle/>
          <a:p>
            <a:r>
              <a:rPr lang="en-US" sz="2400" dirty="0">
                <a:solidFill>
                  <a:schemeClr val="bg1"/>
                </a:solidFill>
              </a:rPr>
              <a:t>Server</a:t>
            </a:r>
          </a:p>
          <a:p>
            <a:endParaRPr lang="en-US" dirty="0"/>
          </a:p>
        </p:txBody>
      </p:sp>
      <p:sp>
        <p:nvSpPr>
          <p:cNvPr id="42" name="TextBox 41">
            <a:extLst>
              <a:ext uri="{FF2B5EF4-FFF2-40B4-BE49-F238E27FC236}">
                <a16:creationId xmlns:a16="http://schemas.microsoft.com/office/drawing/2014/main" id="{227462D6-C9F8-3105-23E4-7B37E3EFA416}"/>
              </a:ext>
            </a:extLst>
          </p:cNvPr>
          <p:cNvSpPr txBox="1"/>
          <p:nvPr/>
        </p:nvSpPr>
        <p:spPr>
          <a:xfrm>
            <a:off x="4752764" y="4845431"/>
            <a:ext cx="1739992" cy="738664"/>
          </a:xfrm>
          <a:prstGeom prst="rect">
            <a:avLst/>
          </a:prstGeom>
          <a:noFill/>
          <a:ln>
            <a:noFill/>
          </a:ln>
        </p:spPr>
        <p:txBody>
          <a:bodyPr wrap="square" rtlCol="0">
            <a:spAutoFit/>
          </a:bodyPr>
          <a:lstStyle/>
          <a:p>
            <a:r>
              <a:rPr lang="en-US" sz="2400" dirty="0">
                <a:solidFill>
                  <a:schemeClr val="bg1"/>
                </a:solidFill>
              </a:rPr>
              <a:t>User/Client</a:t>
            </a:r>
          </a:p>
          <a:p>
            <a:endParaRPr lang="en-US" dirty="0"/>
          </a:p>
        </p:txBody>
      </p:sp>
      <p:cxnSp>
        <p:nvCxnSpPr>
          <p:cNvPr id="45" name="Straight Arrow Connector 44">
            <a:extLst>
              <a:ext uri="{FF2B5EF4-FFF2-40B4-BE49-F238E27FC236}">
                <a16:creationId xmlns:a16="http://schemas.microsoft.com/office/drawing/2014/main" id="{25A7763E-48F6-A873-3450-0A89A41ADB78}"/>
              </a:ext>
            </a:extLst>
          </p:cNvPr>
          <p:cNvCxnSpPr>
            <a:cxnSpLocks/>
            <a:stCxn id="39" idx="3"/>
          </p:cNvCxnSpPr>
          <p:nvPr/>
        </p:nvCxnSpPr>
        <p:spPr>
          <a:xfrm>
            <a:off x="3451464" y="5827230"/>
            <a:ext cx="96098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14C9A7AB-E4C4-9745-A2D0-AD448BBBB786}"/>
              </a:ext>
            </a:extLst>
          </p:cNvPr>
          <p:cNvSpPr txBox="1"/>
          <p:nvPr/>
        </p:nvSpPr>
        <p:spPr>
          <a:xfrm>
            <a:off x="4641188" y="5342326"/>
            <a:ext cx="2064412" cy="120032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API calls to Spring Boot (backend/CRUD </a:t>
            </a:r>
            <a:r>
              <a:rPr lang="en-US" dirty="0" err="1"/>
              <a:t>operantions</a:t>
            </a:r>
            <a:r>
              <a:rPr lang="en-US" dirty="0"/>
              <a:t>)</a:t>
            </a:r>
          </a:p>
        </p:txBody>
      </p:sp>
      <p:cxnSp>
        <p:nvCxnSpPr>
          <p:cNvPr id="49" name="Straight Arrow Connector 48">
            <a:extLst>
              <a:ext uri="{FF2B5EF4-FFF2-40B4-BE49-F238E27FC236}">
                <a16:creationId xmlns:a16="http://schemas.microsoft.com/office/drawing/2014/main" id="{ABFE449B-2EF6-326F-57F9-DEE7D1286198}"/>
              </a:ext>
            </a:extLst>
          </p:cNvPr>
          <p:cNvCxnSpPr>
            <a:cxnSpLocks/>
          </p:cNvCxnSpPr>
          <p:nvPr/>
        </p:nvCxnSpPr>
        <p:spPr>
          <a:xfrm>
            <a:off x="6705600" y="5827229"/>
            <a:ext cx="125128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CDAE25B4-DB36-9E23-FD5D-CCF29BA9332B}"/>
              </a:ext>
            </a:extLst>
          </p:cNvPr>
          <p:cNvSpPr txBox="1"/>
          <p:nvPr/>
        </p:nvSpPr>
        <p:spPr>
          <a:xfrm>
            <a:off x="8130652" y="5390213"/>
            <a:ext cx="2286132" cy="9233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Data added, edited (updated) or removed from database.</a:t>
            </a:r>
          </a:p>
        </p:txBody>
      </p:sp>
      <p:cxnSp>
        <p:nvCxnSpPr>
          <p:cNvPr id="53" name="Straight Connector 52">
            <a:extLst>
              <a:ext uri="{FF2B5EF4-FFF2-40B4-BE49-F238E27FC236}">
                <a16:creationId xmlns:a16="http://schemas.microsoft.com/office/drawing/2014/main" id="{D93789A6-9282-2CB2-75B5-B7959AB8DB21}"/>
              </a:ext>
            </a:extLst>
          </p:cNvPr>
          <p:cNvCxnSpPr>
            <a:cxnSpLocks/>
          </p:cNvCxnSpPr>
          <p:nvPr/>
        </p:nvCxnSpPr>
        <p:spPr>
          <a:xfrm>
            <a:off x="581192" y="4866425"/>
            <a:ext cx="1139744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5255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10000" b="-10000"/>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3170A01-6670-90DD-AF48-E54FD9674A8B}"/>
              </a:ext>
            </a:extLst>
          </p:cNvPr>
          <p:cNvSpPr txBox="1"/>
          <p:nvPr/>
        </p:nvSpPr>
        <p:spPr>
          <a:xfrm>
            <a:off x="903514" y="2383971"/>
            <a:ext cx="1284514"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Start application</a:t>
            </a:r>
          </a:p>
        </p:txBody>
      </p:sp>
      <p:cxnSp>
        <p:nvCxnSpPr>
          <p:cNvPr id="9" name="Straight Arrow Connector 8">
            <a:extLst>
              <a:ext uri="{FF2B5EF4-FFF2-40B4-BE49-F238E27FC236}">
                <a16:creationId xmlns:a16="http://schemas.microsoft.com/office/drawing/2014/main" id="{B4D8906D-0070-D762-41E5-90808F554F88}"/>
              </a:ext>
            </a:extLst>
          </p:cNvPr>
          <p:cNvCxnSpPr>
            <a:cxnSpLocks/>
          </p:cNvCxnSpPr>
          <p:nvPr/>
        </p:nvCxnSpPr>
        <p:spPr>
          <a:xfrm>
            <a:off x="2188028" y="2845636"/>
            <a:ext cx="805543" cy="0"/>
          </a:xfrm>
          <a:prstGeom prst="straightConnector1">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0038FD00-6647-6D49-479A-562F10D83A90}"/>
              </a:ext>
            </a:extLst>
          </p:cNvPr>
          <p:cNvSpPr txBox="1"/>
          <p:nvPr/>
        </p:nvSpPr>
        <p:spPr>
          <a:xfrm>
            <a:off x="3145970" y="2383971"/>
            <a:ext cx="1284515" cy="9233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Homepage (“/”) root route) </a:t>
            </a:r>
          </a:p>
        </p:txBody>
      </p:sp>
      <p:cxnSp>
        <p:nvCxnSpPr>
          <p:cNvPr id="12" name="Straight Arrow Connector 11">
            <a:extLst>
              <a:ext uri="{FF2B5EF4-FFF2-40B4-BE49-F238E27FC236}">
                <a16:creationId xmlns:a16="http://schemas.microsoft.com/office/drawing/2014/main" id="{6B2405F1-ABC5-02B3-5B08-FF62AEBB80FA}"/>
              </a:ext>
            </a:extLst>
          </p:cNvPr>
          <p:cNvCxnSpPr>
            <a:cxnSpLocks/>
            <a:stCxn id="10" idx="3"/>
          </p:cNvCxnSpPr>
          <p:nvPr/>
        </p:nvCxnSpPr>
        <p:spPr>
          <a:xfrm>
            <a:off x="4430485" y="2845636"/>
            <a:ext cx="107768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BF966B3-614A-BFAA-5569-71ACDC70F393}"/>
              </a:ext>
            </a:extLst>
          </p:cNvPr>
          <p:cNvSpPr txBox="1"/>
          <p:nvPr/>
        </p:nvSpPr>
        <p:spPr>
          <a:xfrm>
            <a:off x="5606143" y="2383971"/>
            <a:ext cx="1785257" cy="9233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Option 1: “View All Blogs” (/blogs)</a:t>
            </a:r>
          </a:p>
        </p:txBody>
      </p:sp>
      <p:sp>
        <p:nvSpPr>
          <p:cNvPr id="17" name="TextBox 16">
            <a:extLst>
              <a:ext uri="{FF2B5EF4-FFF2-40B4-BE49-F238E27FC236}">
                <a16:creationId xmlns:a16="http://schemas.microsoft.com/office/drawing/2014/main" id="{615C0333-DFAB-F759-82F7-4FCAD1196FDE}"/>
              </a:ext>
            </a:extLst>
          </p:cNvPr>
          <p:cNvSpPr txBox="1"/>
          <p:nvPr/>
        </p:nvSpPr>
        <p:spPr>
          <a:xfrm>
            <a:off x="3145970" y="4848608"/>
            <a:ext cx="1785257" cy="9233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Option 2:  “Create a new blog” (/create)</a:t>
            </a:r>
          </a:p>
        </p:txBody>
      </p:sp>
      <p:cxnSp>
        <p:nvCxnSpPr>
          <p:cNvPr id="19" name="Straight Arrow Connector 18">
            <a:extLst>
              <a:ext uri="{FF2B5EF4-FFF2-40B4-BE49-F238E27FC236}">
                <a16:creationId xmlns:a16="http://schemas.microsoft.com/office/drawing/2014/main" id="{36CE5216-E6ED-485C-C36B-29E4DC8EC6DB}"/>
              </a:ext>
            </a:extLst>
          </p:cNvPr>
          <p:cNvCxnSpPr>
            <a:cxnSpLocks/>
            <a:stCxn id="10" idx="2"/>
          </p:cNvCxnSpPr>
          <p:nvPr/>
        </p:nvCxnSpPr>
        <p:spPr>
          <a:xfrm>
            <a:off x="3788228" y="3307301"/>
            <a:ext cx="0" cy="11014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C6E3509-B970-1DF4-16B4-7AC15B1D7A1A}"/>
              </a:ext>
            </a:extLst>
          </p:cNvPr>
          <p:cNvCxnSpPr>
            <a:stCxn id="13" idx="3"/>
          </p:cNvCxnSpPr>
          <p:nvPr/>
        </p:nvCxnSpPr>
        <p:spPr>
          <a:xfrm>
            <a:off x="7391400" y="2845636"/>
            <a:ext cx="93617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F335FE5-3EE7-85FE-F011-4B57B853C4D1}"/>
              </a:ext>
            </a:extLst>
          </p:cNvPr>
          <p:cNvSpPr txBox="1"/>
          <p:nvPr/>
        </p:nvSpPr>
        <p:spPr>
          <a:xfrm>
            <a:off x="8610599" y="2275114"/>
            <a:ext cx="2786743" cy="120032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All blogs show, each has comment, edit and delete options, can also go back to homepage.</a:t>
            </a:r>
          </a:p>
        </p:txBody>
      </p:sp>
      <p:cxnSp>
        <p:nvCxnSpPr>
          <p:cNvPr id="25" name="Straight Arrow Connector 24">
            <a:extLst>
              <a:ext uri="{FF2B5EF4-FFF2-40B4-BE49-F238E27FC236}">
                <a16:creationId xmlns:a16="http://schemas.microsoft.com/office/drawing/2014/main" id="{EF0A19EC-6FA7-230B-AACB-ACE39D1A13B7}"/>
              </a:ext>
            </a:extLst>
          </p:cNvPr>
          <p:cNvCxnSpPr>
            <a:cxnSpLocks/>
          </p:cNvCxnSpPr>
          <p:nvPr/>
        </p:nvCxnSpPr>
        <p:spPr>
          <a:xfrm>
            <a:off x="4931227" y="5367210"/>
            <a:ext cx="97971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FA96DAB-AD99-83D2-FB95-8E63AD4F0825}"/>
              </a:ext>
            </a:extLst>
          </p:cNvPr>
          <p:cNvSpPr txBox="1"/>
          <p:nvPr/>
        </p:nvSpPr>
        <p:spPr>
          <a:xfrm>
            <a:off x="6096000" y="4848608"/>
            <a:ext cx="1785257" cy="120032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Blog creation form, once done redirects to all blogs (/blogs)</a:t>
            </a:r>
          </a:p>
        </p:txBody>
      </p:sp>
      <p:cxnSp>
        <p:nvCxnSpPr>
          <p:cNvPr id="29" name="Connector: Elbow 28">
            <a:extLst>
              <a:ext uri="{FF2B5EF4-FFF2-40B4-BE49-F238E27FC236}">
                <a16:creationId xmlns:a16="http://schemas.microsoft.com/office/drawing/2014/main" id="{E48E6DB5-FE7B-0CD8-0CA3-D6AEAECCB603}"/>
              </a:ext>
            </a:extLst>
          </p:cNvPr>
          <p:cNvCxnSpPr>
            <a:cxnSpLocks/>
          </p:cNvCxnSpPr>
          <p:nvPr/>
        </p:nvCxnSpPr>
        <p:spPr>
          <a:xfrm rot="16200000" flipH="1">
            <a:off x="7057402" y="3018092"/>
            <a:ext cx="967350" cy="1545771"/>
          </a:xfrm>
          <a:prstGeom prst="bentConnector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0E99FA6-DA34-DD51-02DE-DC54E3403E2C}"/>
              </a:ext>
            </a:extLst>
          </p:cNvPr>
          <p:cNvSpPr txBox="1"/>
          <p:nvPr/>
        </p:nvSpPr>
        <p:spPr>
          <a:xfrm>
            <a:off x="8403773" y="3768964"/>
            <a:ext cx="2862937" cy="147732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Click on a blog to expand it, routed to only the blog view which was chosen, from here user can edit, comment or remove content</a:t>
            </a:r>
          </a:p>
        </p:txBody>
      </p:sp>
      <p:cxnSp>
        <p:nvCxnSpPr>
          <p:cNvPr id="32" name="Connector: Elbow 31">
            <a:extLst>
              <a:ext uri="{FF2B5EF4-FFF2-40B4-BE49-F238E27FC236}">
                <a16:creationId xmlns:a16="http://schemas.microsoft.com/office/drawing/2014/main" id="{069B44F2-E746-5679-F301-25035991F83C}"/>
              </a:ext>
            </a:extLst>
          </p:cNvPr>
          <p:cNvCxnSpPr>
            <a:cxnSpLocks/>
          </p:cNvCxnSpPr>
          <p:nvPr/>
        </p:nvCxnSpPr>
        <p:spPr>
          <a:xfrm rot="16200000" flipV="1">
            <a:off x="5559092" y="3840897"/>
            <a:ext cx="1373165" cy="642256"/>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F76A8B-59DC-E56B-9849-4FBE486E50C2}"/>
              </a:ext>
            </a:extLst>
          </p:cNvPr>
          <p:cNvSpPr>
            <a:spLocks noGrp="1"/>
          </p:cNvSpPr>
          <p:nvPr>
            <p:ph type="title"/>
          </p:nvPr>
        </p:nvSpPr>
        <p:spPr/>
        <p:txBody>
          <a:bodyPr/>
          <a:lstStyle/>
          <a:p>
            <a:r>
              <a:rPr lang="en-US" dirty="0"/>
              <a:t>Flow-Chart (User) </a:t>
            </a:r>
          </a:p>
        </p:txBody>
      </p:sp>
    </p:spTree>
    <p:extLst>
      <p:ext uri="{BB962C8B-B14F-4D97-AF65-F5344CB8AC3E}">
        <p14:creationId xmlns:p14="http://schemas.microsoft.com/office/powerpoint/2010/main" val="3231728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503B84DD-72CE-D3E6-DED8-4FB09F120EE0}"/>
              </a:ext>
            </a:extLst>
          </p:cNvPr>
          <p:cNvSpPr>
            <a:spLocks noGrp="1"/>
          </p:cNvSpPr>
          <p:nvPr>
            <p:ph type="title"/>
          </p:nvPr>
        </p:nvSpPr>
        <p:spPr/>
        <p:txBody>
          <a:bodyPr/>
          <a:lstStyle/>
          <a:p>
            <a:r>
              <a:rPr lang="en-US" dirty="0"/>
              <a:t>Backend Structure: </a:t>
            </a:r>
            <a:r>
              <a:rPr lang="en-US" dirty="0" err="1"/>
              <a:t>SpringBoot</a:t>
            </a:r>
            <a:endParaRPr lang="en-US" dirty="0"/>
          </a:p>
        </p:txBody>
      </p:sp>
      <p:sp>
        <p:nvSpPr>
          <p:cNvPr id="5" name="Text Placeholder 4">
            <a:extLst>
              <a:ext uri="{FF2B5EF4-FFF2-40B4-BE49-F238E27FC236}">
                <a16:creationId xmlns:a16="http://schemas.microsoft.com/office/drawing/2014/main" id="{BE4E5818-C2F5-9E8A-322E-E2E0FAB9ADE0}"/>
              </a:ext>
            </a:extLst>
          </p:cNvPr>
          <p:cNvSpPr>
            <a:spLocks noGrp="1"/>
          </p:cNvSpPr>
          <p:nvPr>
            <p:ph idx="1"/>
          </p:nvPr>
        </p:nvSpPr>
        <p:spPr>
          <a:xfrm>
            <a:off x="581193" y="2180496"/>
            <a:ext cx="8339784" cy="4365270"/>
          </a:xfrm>
        </p:spPr>
        <p:txBody>
          <a:bodyPr>
            <a:normAutofit fontScale="85000" lnSpcReduction="20000"/>
          </a:bodyPr>
          <a:lstStyle/>
          <a:p>
            <a:r>
              <a:rPr lang="en-US" dirty="0"/>
              <a:t>Main String: CrudApplication.java</a:t>
            </a:r>
          </a:p>
          <a:p>
            <a:pPr lvl="1"/>
            <a:r>
              <a:rPr lang="en-US" dirty="0"/>
              <a:t>Controllers:</a:t>
            </a:r>
          </a:p>
          <a:p>
            <a:pPr lvl="2"/>
            <a:r>
              <a:rPr lang="en-US" dirty="0" err="1"/>
              <a:t>BlogController</a:t>
            </a:r>
            <a:r>
              <a:rPr lang="en-US" dirty="0"/>
              <a:t>: Handles CRUD operations</a:t>
            </a:r>
          </a:p>
          <a:p>
            <a:pPr lvl="2"/>
            <a:r>
              <a:rPr lang="en-US" dirty="0" err="1"/>
              <a:t>WelcomeController</a:t>
            </a:r>
            <a:r>
              <a:rPr lang="en-US" dirty="0"/>
              <a:t>: Hand the homepage, as in the message that displays and interacts with the frontend “Homepage”.</a:t>
            </a:r>
          </a:p>
          <a:p>
            <a:pPr marL="645750" lvl="1" indent="-285750"/>
            <a:r>
              <a:rPr lang="en-US" dirty="0"/>
              <a:t>Entities: </a:t>
            </a:r>
          </a:p>
          <a:p>
            <a:pPr marL="915750" lvl="2" indent="-285750"/>
            <a:r>
              <a:rPr lang="en-US" dirty="0" err="1"/>
              <a:t>BlogEntity</a:t>
            </a:r>
            <a:r>
              <a:rPr lang="en-US" dirty="0"/>
              <a:t>:  Acts as the “entity” of the blog and interacts with the database table to create the desired fields such as “username email, category, </a:t>
            </a:r>
            <a:r>
              <a:rPr lang="en-US" dirty="0" err="1"/>
              <a:t>etc</a:t>
            </a:r>
            <a:r>
              <a:rPr lang="en-US" dirty="0"/>
              <a:t>”, also serves as a model for the frontend. </a:t>
            </a:r>
          </a:p>
          <a:p>
            <a:pPr marL="645750" lvl="1" indent="-285750"/>
            <a:r>
              <a:rPr lang="en-US" dirty="0" err="1"/>
              <a:t>Dto</a:t>
            </a:r>
            <a:r>
              <a:rPr lang="en-US" dirty="0"/>
              <a:t> (Data transfer Object): </a:t>
            </a:r>
          </a:p>
          <a:p>
            <a:pPr marL="915750" lvl="2" indent="-285750"/>
            <a:r>
              <a:rPr lang="en-US" dirty="0" err="1"/>
              <a:t>BlogDto</a:t>
            </a:r>
            <a:r>
              <a:rPr lang="en-US" dirty="0"/>
              <a:t>: Creates the fields for the data to be created, modified, moved around and interacted with.</a:t>
            </a:r>
          </a:p>
          <a:p>
            <a:pPr marL="645750" lvl="1" indent="-285750"/>
            <a:r>
              <a:rPr lang="en-US" dirty="0"/>
              <a:t>Services: </a:t>
            </a:r>
          </a:p>
          <a:p>
            <a:pPr marL="915750" lvl="2" indent="-285750"/>
            <a:r>
              <a:rPr lang="en-US" dirty="0" err="1"/>
              <a:t>BlogService</a:t>
            </a:r>
            <a:r>
              <a:rPr lang="en-US" dirty="0"/>
              <a:t> (interface): Interface for the data to have a mold of sorts (CRUD operations)</a:t>
            </a:r>
          </a:p>
          <a:p>
            <a:pPr marL="915750" lvl="2" indent="-285750"/>
            <a:r>
              <a:rPr lang="en-US" dirty="0" err="1"/>
              <a:t>BlogServiceImpl</a:t>
            </a:r>
            <a:r>
              <a:rPr lang="en-US" dirty="0"/>
              <a:t>: Modifies the data to be useable, such as setting an email, comment or blog itself in the CRUD operations, extends the </a:t>
            </a:r>
            <a:r>
              <a:rPr lang="en-US" dirty="0" err="1"/>
              <a:t>BlogService</a:t>
            </a:r>
            <a:r>
              <a:rPr lang="en-US" dirty="0"/>
              <a:t> interface.</a:t>
            </a:r>
          </a:p>
          <a:p>
            <a:pPr marL="645750" lvl="1" indent="-285750"/>
            <a:r>
              <a:rPr lang="en-US" dirty="0"/>
              <a:t>Repository:</a:t>
            </a:r>
          </a:p>
          <a:p>
            <a:pPr marL="915750" lvl="2" indent="-285750"/>
            <a:r>
              <a:rPr lang="en-US" dirty="0" err="1"/>
              <a:t>BlogRepository</a:t>
            </a:r>
            <a:r>
              <a:rPr lang="en-US" dirty="0"/>
              <a:t>: extends the </a:t>
            </a:r>
            <a:r>
              <a:rPr lang="en-US" dirty="0" err="1"/>
              <a:t>JpaRepository</a:t>
            </a:r>
            <a:r>
              <a:rPr lang="en-US" dirty="0"/>
              <a:t> to interact with the database, such as adding data or removing it using the </a:t>
            </a:r>
            <a:r>
              <a:rPr lang="en-US" dirty="0" err="1"/>
              <a:t>BlogEntity</a:t>
            </a:r>
            <a:r>
              <a:rPr lang="en-US" dirty="0"/>
              <a:t> as a model.</a:t>
            </a:r>
          </a:p>
        </p:txBody>
      </p:sp>
      <p:pic>
        <p:nvPicPr>
          <p:cNvPr id="3" name="Picture 2" descr="A green hexagon with a black power button&#10;&#10;AI-generated content may be incorrect.">
            <a:extLst>
              <a:ext uri="{FF2B5EF4-FFF2-40B4-BE49-F238E27FC236}">
                <a16:creationId xmlns:a16="http://schemas.microsoft.com/office/drawing/2014/main" id="{1B5E93B7-DFC8-576B-9C87-C8728A8509C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120942" y="3114195"/>
            <a:ext cx="2784087" cy="2497872"/>
          </a:xfrm>
          <a:prstGeom prst="rect">
            <a:avLst/>
          </a:prstGeom>
        </p:spPr>
      </p:pic>
    </p:spTree>
    <p:extLst>
      <p:ext uri="{BB962C8B-B14F-4D97-AF65-F5344CB8AC3E}">
        <p14:creationId xmlns:p14="http://schemas.microsoft.com/office/powerpoint/2010/main" val="1237646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7B076-FE53-C532-48D5-788988A8BC97}"/>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AF793B21-3A88-F001-9D6B-A4D25EC4607E}"/>
              </a:ext>
            </a:extLst>
          </p:cNvPr>
          <p:cNvSpPr>
            <a:spLocks noGrp="1"/>
          </p:cNvSpPr>
          <p:nvPr>
            <p:ph type="title"/>
          </p:nvPr>
        </p:nvSpPr>
        <p:spPr>
          <a:xfrm>
            <a:off x="581193" y="729658"/>
            <a:ext cx="11029616" cy="988332"/>
          </a:xfrm>
        </p:spPr>
        <p:txBody>
          <a:bodyPr anchor="b">
            <a:normAutofit/>
          </a:bodyPr>
          <a:lstStyle/>
          <a:p>
            <a:r>
              <a:rPr lang="en-US" dirty="0"/>
              <a:t>Frontend Structure: angular</a:t>
            </a:r>
          </a:p>
        </p:txBody>
      </p:sp>
      <p:sp>
        <p:nvSpPr>
          <p:cNvPr id="5" name="Text Placeholder 4">
            <a:extLst>
              <a:ext uri="{FF2B5EF4-FFF2-40B4-BE49-F238E27FC236}">
                <a16:creationId xmlns:a16="http://schemas.microsoft.com/office/drawing/2014/main" id="{2957850A-6B5E-5122-6412-F8CDADA77EB1}"/>
              </a:ext>
            </a:extLst>
          </p:cNvPr>
          <p:cNvSpPr>
            <a:spLocks noGrp="1"/>
          </p:cNvSpPr>
          <p:nvPr>
            <p:ph sz="half" idx="1"/>
          </p:nvPr>
        </p:nvSpPr>
        <p:spPr>
          <a:xfrm>
            <a:off x="581193" y="2228003"/>
            <a:ext cx="5719246" cy="3633047"/>
          </a:xfrm>
        </p:spPr>
        <p:txBody>
          <a:bodyPr anchor="ctr">
            <a:normAutofit/>
          </a:bodyPr>
          <a:lstStyle/>
          <a:p>
            <a:pPr>
              <a:lnSpc>
                <a:spcPct val="90000"/>
              </a:lnSpc>
            </a:pPr>
            <a:r>
              <a:rPr lang="en-US" sz="1400" dirty="0" err="1"/>
              <a:t>Src</a:t>
            </a:r>
            <a:r>
              <a:rPr lang="en-US" sz="1400" dirty="0"/>
              <a:t>/app</a:t>
            </a:r>
          </a:p>
          <a:p>
            <a:pPr lvl="1">
              <a:lnSpc>
                <a:spcPct val="90000"/>
              </a:lnSpc>
            </a:pPr>
            <a:r>
              <a:rPr lang="en-US" sz="1400" dirty="0" err="1"/>
              <a:t>app.component.ts</a:t>
            </a:r>
            <a:r>
              <a:rPr lang="en-US" sz="1400" dirty="0"/>
              <a:t> (root file)</a:t>
            </a:r>
          </a:p>
          <a:p>
            <a:pPr lvl="1">
              <a:lnSpc>
                <a:spcPct val="90000"/>
              </a:lnSpc>
            </a:pPr>
            <a:r>
              <a:rPr lang="en-US" sz="1400" dirty="0" err="1"/>
              <a:t>app.routes.ts</a:t>
            </a:r>
            <a:r>
              <a:rPr lang="en-US" sz="1400" dirty="0"/>
              <a:t>: for routing the different components.</a:t>
            </a:r>
          </a:p>
          <a:p>
            <a:pPr lvl="1">
              <a:lnSpc>
                <a:spcPct val="90000"/>
              </a:lnSpc>
            </a:pPr>
            <a:r>
              <a:rPr lang="en-US" sz="1400" dirty="0"/>
              <a:t>Welcome/ : Homepage view, display the Welcome Message on the backend via a REST API call, first user interaction/route.</a:t>
            </a:r>
          </a:p>
          <a:p>
            <a:pPr lvl="1">
              <a:lnSpc>
                <a:spcPct val="90000"/>
              </a:lnSpc>
            </a:pPr>
            <a:r>
              <a:rPr lang="en-US" sz="1400" dirty="0"/>
              <a:t>Home/ : Where all the blogs can be viewed,  can be edited, removed or commented on as well as be expanded to a new view.</a:t>
            </a:r>
          </a:p>
          <a:p>
            <a:pPr lvl="1">
              <a:lnSpc>
                <a:spcPct val="90000"/>
              </a:lnSpc>
            </a:pPr>
            <a:r>
              <a:rPr lang="en-US" sz="1400" dirty="0"/>
              <a:t>Blog/ : Where the user can create a new blog, can routed through the homepage or All Blogs view/page/</a:t>
            </a:r>
          </a:p>
          <a:p>
            <a:pPr lvl="1">
              <a:lnSpc>
                <a:spcPct val="90000"/>
              </a:lnSpc>
            </a:pPr>
            <a:r>
              <a:rPr lang="en-US" sz="1400" dirty="0"/>
              <a:t>Blog-detail/ : When the user expands or “clicks” on the blogpost it create a new view/page which only contains that specific blog-post.</a:t>
            </a:r>
          </a:p>
          <a:p>
            <a:pPr lvl="1">
              <a:lnSpc>
                <a:spcPct val="90000"/>
              </a:lnSpc>
            </a:pPr>
            <a:endParaRPr lang="en-US" sz="1400" dirty="0"/>
          </a:p>
        </p:txBody>
      </p:sp>
      <p:pic>
        <p:nvPicPr>
          <p:cNvPr id="3" name="Picture 2" descr="A purple text on a black background&#10;&#10;AI-generated content may be incorrect.">
            <a:extLst>
              <a:ext uri="{FF2B5EF4-FFF2-40B4-BE49-F238E27FC236}">
                <a16:creationId xmlns:a16="http://schemas.microsoft.com/office/drawing/2014/main" id="{9D22F1AA-FAB1-4F01-8F29-48CCE71B86B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534615" y="3197278"/>
            <a:ext cx="5076194" cy="1694497"/>
          </a:xfrm>
          <a:prstGeom prst="rect">
            <a:avLst/>
          </a:prstGeom>
          <a:noFill/>
        </p:spPr>
      </p:pic>
    </p:spTree>
    <p:extLst>
      <p:ext uri="{BB962C8B-B14F-4D97-AF65-F5344CB8AC3E}">
        <p14:creationId xmlns:p14="http://schemas.microsoft.com/office/powerpoint/2010/main" val="2593120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F7DD0-1C2C-B8AA-6602-01C50AABE032}"/>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11767090-1EAE-BD4E-5018-5BCFF4E50F6D}"/>
              </a:ext>
            </a:extLst>
          </p:cNvPr>
          <p:cNvSpPr>
            <a:spLocks noGrp="1"/>
          </p:cNvSpPr>
          <p:nvPr>
            <p:ph type="title"/>
          </p:nvPr>
        </p:nvSpPr>
        <p:spPr>
          <a:xfrm>
            <a:off x="581193" y="729658"/>
            <a:ext cx="11029616" cy="988332"/>
          </a:xfrm>
        </p:spPr>
        <p:txBody>
          <a:bodyPr anchor="b">
            <a:normAutofit/>
          </a:bodyPr>
          <a:lstStyle/>
          <a:p>
            <a:r>
              <a:rPr lang="en-US" dirty="0"/>
              <a:t>Database Structure: </a:t>
            </a:r>
            <a:r>
              <a:rPr lang="en-US" dirty="0" err="1"/>
              <a:t>mysql</a:t>
            </a:r>
            <a:endParaRPr lang="en-US" dirty="0"/>
          </a:p>
        </p:txBody>
      </p:sp>
      <p:sp>
        <p:nvSpPr>
          <p:cNvPr id="5" name="Text Placeholder 4">
            <a:extLst>
              <a:ext uri="{FF2B5EF4-FFF2-40B4-BE49-F238E27FC236}">
                <a16:creationId xmlns:a16="http://schemas.microsoft.com/office/drawing/2014/main" id="{E79C4500-BCC0-9480-52DD-C1F6C781FCD6}"/>
              </a:ext>
            </a:extLst>
          </p:cNvPr>
          <p:cNvSpPr>
            <a:spLocks noGrp="1"/>
          </p:cNvSpPr>
          <p:nvPr>
            <p:ph sz="half" idx="1"/>
          </p:nvPr>
        </p:nvSpPr>
        <p:spPr>
          <a:xfrm>
            <a:off x="581193" y="2228003"/>
            <a:ext cx="5422390" cy="3633047"/>
          </a:xfrm>
        </p:spPr>
        <p:txBody>
          <a:bodyPr anchor="ctr">
            <a:normAutofit/>
          </a:bodyPr>
          <a:lstStyle/>
          <a:p>
            <a:r>
              <a:rPr lang="en-US" dirty="0" err="1"/>
              <a:t>Blog_DB</a:t>
            </a:r>
            <a:endParaRPr lang="en-US" dirty="0"/>
          </a:p>
          <a:p>
            <a:pPr lvl="1"/>
            <a:r>
              <a:rPr lang="en-US" sz="1800"/>
              <a:t>Id : Long, auto-increment</a:t>
            </a:r>
          </a:p>
          <a:p>
            <a:pPr lvl="1"/>
            <a:r>
              <a:rPr lang="en-US" sz="1800"/>
              <a:t>Username : String</a:t>
            </a:r>
          </a:p>
          <a:p>
            <a:pPr lvl="1"/>
            <a:r>
              <a:rPr lang="en-US" sz="1800"/>
              <a:t>Blogpost : String</a:t>
            </a:r>
          </a:p>
          <a:p>
            <a:pPr lvl="1"/>
            <a:r>
              <a:rPr lang="en-US" sz="1800" err="1"/>
              <a:t>Created_at</a:t>
            </a:r>
            <a:r>
              <a:rPr lang="en-US" sz="1800"/>
              <a:t> : local date time</a:t>
            </a:r>
          </a:p>
          <a:p>
            <a:pPr lvl="1"/>
            <a:r>
              <a:rPr lang="en-US" sz="1800"/>
              <a:t>Category : String</a:t>
            </a:r>
          </a:p>
          <a:p>
            <a:r>
              <a:rPr lang="en-US" dirty="0" err="1"/>
              <a:t>Blog_Comments</a:t>
            </a:r>
            <a:endParaRPr lang="en-US" dirty="0"/>
          </a:p>
          <a:p>
            <a:pPr lvl="1"/>
            <a:r>
              <a:rPr lang="en-US" sz="1800" err="1"/>
              <a:t>Blog_id</a:t>
            </a:r>
            <a:endParaRPr lang="en-US" sz="1800"/>
          </a:p>
          <a:p>
            <a:pPr lvl="1"/>
            <a:r>
              <a:rPr lang="en-US" sz="1800"/>
              <a:t>Comment : String </a:t>
            </a:r>
          </a:p>
        </p:txBody>
      </p:sp>
      <p:pic>
        <p:nvPicPr>
          <p:cNvPr id="3" name="Picture 2" descr="A blue and orange yin yang symbol&#10;&#10;AI-generated content may be incorrect.">
            <a:extLst>
              <a:ext uri="{FF2B5EF4-FFF2-40B4-BE49-F238E27FC236}">
                <a16:creationId xmlns:a16="http://schemas.microsoft.com/office/drawing/2014/main" id="{DC879FB4-ACE4-1F1F-0DC4-CA468D26C1C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083089" y="2228003"/>
            <a:ext cx="3633047" cy="3633047"/>
          </a:xfrm>
          <a:prstGeom prst="rect">
            <a:avLst/>
          </a:prstGeom>
          <a:noFill/>
        </p:spPr>
      </p:pic>
    </p:spTree>
    <p:extLst>
      <p:ext uri="{BB962C8B-B14F-4D97-AF65-F5344CB8AC3E}">
        <p14:creationId xmlns:p14="http://schemas.microsoft.com/office/powerpoint/2010/main" val="2746464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27F88-53E0-BB45-D36E-A3D646DFF022}"/>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A6B58825-55A5-C398-4386-4FD05C64F7D3}"/>
              </a:ext>
            </a:extLst>
          </p:cNvPr>
          <p:cNvSpPr>
            <a:spLocks noGrp="1"/>
          </p:cNvSpPr>
          <p:nvPr>
            <p:ph idx="1"/>
          </p:nvPr>
        </p:nvSpPr>
        <p:spPr/>
        <p:txBody>
          <a:bodyPr/>
          <a:lstStyle/>
          <a:p>
            <a:r>
              <a:rPr lang="en-US" dirty="0"/>
              <a:t>CORS origin: </a:t>
            </a:r>
          </a:p>
          <a:p>
            <a:pPr lvl="1"/>
            <a:r>
              <a:rPr lang="en-US" dirty="0"/>
              <a:t>Came across this issue a couple times when trying to connect the backend with the frontend but was resolved after reading documentation, and making sure the right routing was implemented.</a:t>
            </a:r>
          </a:p>
          <a:p>
            <a:r>
              <a:rPr lang="en-US" dirty="0"/>
              <a:t>Authorization:</a:t>
            </a:r>
          </a:p>
          <a:p>
            <a:pPr lvl="1"/>
            <a:r>
              <a:rPr lang="en-US" dirty="0"/>
              <a:t>Tried to add authorization methods such as sign up and login but ran into multiple issues so reverted to previous versions where it was not needed.</a:t>
            </a:r>
          </a:p>
          <a:p>
            <a:r>
              <a:rPr lang="en-US" dirty="0"/>
              <a:t>Color picker:</a:t>
            </a:r>
          </a:p>
          <a:p>
            <a:pPr lvl="1"/>
            <a:r>
              <a:rPr lang="en-US" dirty="0"/>
              <a:t>In the beginning The color picker would change the color of all the views but resolved it by making it file/component specific.  Also did not add the “card/blog color picker” to the Welcome page as it did not need it. </a:t>
            </a:r>
          </a:p>
        </p:txBody>
      </p:sp>
    </p:spTree>
    <p:extLst>
      <p:ext uri="{BB962C8B-B14F-4D97-AF65-F5344CB8AC3E}">
        <p14:creationId xmlns:p14="http://schemas.microsoft.com/office/powerpoint/2010/main" val="1079162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3B658-619F-13EE-BDBA-29C4FC0DF2CB}"/>
              </a:ext>
            </a:extLst>
          </p:cNvPr>
          <p:cNvSpPr>
            <a:spLocks noGrp="1"/>
          </p:cNvSpPr>
          <p:nvPr>
            <p:ph type="title"/>
          </p:nvPr>
        </p:nvSpPr>
        <p:spPr/>
        <p:txBody>
          <a:bodyPr/>
          <a:lstStyle/>
          <a:p>
            <a:r>
              <a:rPr lang="en-US" dirty="0"/>
              <a:t>Possible additions/expansions in the future</a:t>
            </a:r>
          </a:p>
        </p:txBody>
      </p:sp>
      <p:sp>
        <p:nvSpPr>
          <p:cNvPr id="3" name="Content Placeholder 2">
            <a:extLst>
              <a:ext uri="{FF2B5EF4-FFF2-40B4-BE49-F238E27FC236}">
                <a16:creationId xmlns:a16="http://schemas.microsoft.com/office/drawing/2014/main" id="{D7279D14-92E1-F5A3-4F2C-5986A4E76FE1}"/>
              </a:ext>
            </a:extLst>
          </p:cNvPr>
          <p:cNvSpPr>
            <a:spLocks noGrp="1"/>
          </p:cNvSpPr>
          <p:nvPr>
            <p:ph idx="1"/>
          </p:nvPr>
        </p:nvSpPr>
        <p:spPr>
          <a:xfrm>
            <a:off x="581192" y="2180496"/>
            <a:ext cx="11029615" cy="4098384"/>
          </a:xfrm>
        </p:spPr>
        <p:txBody>
          <a:bodyPr/>
          <a:lstStyle/>
          <a:p>
            <a:r>
              <a:rPr lang="en-US" dirty="0"/>
              <a:t>Authorization:</a:t>
            </a:r>
          </a:p>
          <a:p>
            <a:pPr lvl="1"/>
            <a:r>
              <a:rPr lang="en-US" dirty="0"/>
              <a:t>I would like to add some sort of authorization, such only an admin being able to create a blog or make user sign up/login to do so as well.</a:t>
            </a:r>
          </a:p>
          <a:p>
            <a:r>
              <a:rPr lang="en-US" dirty="0"/>
              <a:t>Images: </a:t>
            </a:r>
          </a:p>
          <a:p>
            <a:pPr lvl="1"/>
            <a:r>
              <a:rPr lang="en-US" dirty="0"/>
              <a:t>At this moment there is no feature to add images, however I would like to add it, whether it be for the background, for the blogs,  or any of the views. This would include a service such as amazon S3 (considering the cost that it entails).</a:t>
            </a:r>
          </a:p>
          <a:p>
            <a:r>
              <a:rPr lang="en-US" dirty="0"/>
              <a:t>Social media:</a:t>
            </a:r>
          </a:p>
          <a:p>
            <a:pPr lvl="1"/>
            <a:r>
              <a:rPr lang="en-US" dirty="0"/>
              <a:t>Most modern websites have some sort of social media components, which would be a great addition, however unsure on these currently.  </a:t>
            </a:r>
          </a:p>
          <a:p>
            <a:r>
              <a:rPr lang="en-US" dirty="0"/>
              <a:t>Better UI:</a:t>
            </a:r>
          </a:p>
          <a:p>
            <a:pPr lvl="1"/>
            <a:r>
              <a:rPr lang="en-US" dirty="0"/>
              <a:t>I would like to tweak the UI more, make a little more modern, other types of customizations, maybe letting users choose fonts, text size or features similar to those.</a:t>
            </a:r>
          </a:p>
        </p:txBody>
      </p:sp>
    </p:spTree>
    <p:extLst>
      <p:ext uri="{BB962C8B-B14F-4D97-AF65-F5344CB8AC3E}">
        <p14:creationId xmlns:p14="http://schemas.microsoft.com/office/powerpoint/2010/main" val="3852304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6CACE-A2BA-7A39-4009-299095B7DD4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DD3310B-47BB-EF63-F997-253A55BE1515}"/>
              </a:ext>
            </a:extLst>
          </p:cNvPr>
          <p:cNvSpPr>
            <a:spLocks noGrp="1"/>
          </p:cNvSpPr>
          <p:nvPr>
            <p:ph idx="1"/>
          </p:nvPr>
        </p:nvSpPr>
        <p:spPr/>
        <p:txBody>
          <a:bodyPr/>
          <a:lstStyle/>
          <a:p>
            <a:r>
              <a:rPr lang="en-US" dirty="0"/>
              <a:t>This project is based on blogs where a user can create a blog-post, edit or remove it. The blog can also be commented and be expanded to view it in its own page. </a:t>
            </a:r>
          </a:p>
          <a:p>
            <a:r>
              <a:rPr lang="en-US" dirty="0"/>
              <a:t>It consist of a backend, frontend and database to interact between each other allowing for CRUD operations.</a:t>
            </a:r>
          </a:p>
          <a:p>
            <a:r>
              <a:rPr lang="en-US" dirty="0"/>
              <a:t>User can customize the way they view the pages.</a:t>
            </a:r>
          </a:p>
          <a:p>
            <a:r>
              <a:rPr lang="en-US" dirty="0"/>
              <a:t>User can choose to expand a blog to see it in its own page.</a:t>
            </a:r>
          </a:p>
          <a:p>
            <a:r>
              <a:rPr lang="en-US" dirty="0"/>
              <a:t>Homepage has a welcome message which is called from the backend via a REST API call, can be modified on the backend.</a:t>
            </a:r>
          </a:p>
          <a:p>
            <a:endParaRPr lang="en-US" dirty="0"/>
          </a:p>
        </p:txBody>
      </p:sp>
    </p:spTree>
    <p:extLst>
      <p:ext uri="{BB962C8B-B14F-4D97-AF65-F5344CB8AC3E}">
        <p14:creationId xmlns:p14="http://schemas.microsoft.com/office/powerpoint/2010/main" val="146199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E73C-2B1A-4602-BFBE-CFE1E55D9B38}"/>
              </a:ext>
            </a:extLst>
          </p:cNvPr>
          <p:cNvSpPr>
            <a:spLocks noGrp="1"/>
          </p:cNvSpPr>
          <p:nvPr>
            <p:ph type="title"/>
          </p:nvPr>
        </p:nvSpPr>
        <p:spPr>
          <a:xfrm>
            <a:off x="581193" y="4693389"/>
            <a:ext cx="11029616" cy="566738"/>
          </a:xfrm>
        </p:spPr>
        <p:txBody>
          <a:bodyPr anchor="b">
            <a:normAutofit/>
          </a:bodyPr>
          <a:lstStyle/>
          <a:p>
            <a:r>
              <a:rPr lang="en-US"/>
              <a:t>Thank You</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6400" r="-1" b="26400"/>
          <a:stretch/>
        </p:blipFill>
        <p:spPr>
          <a:xfrm>
            <a:off x="447817" y="599725"/>
            <a:ext cx="11290859" cy="3557252"/>
          </a:xfrm>
          <a:prstGeom prst="rect">
            <a:avLst/>
          </a:prstGeom>
          <a:noFill/>
        </p:spPr>
      </p:pic>
      <p:sp>
        <p:nvSpPr>
          <p:cNvPr id="6" name="Subtitle 5">
            <a:extLst>
              <a:ext uri="{FF2B5EF4-FFF2-40B4-BE49-F238E27FC236}">
                <a16:creationId xmlns:a16="http://schemas.microsoft.com/office/drawing/2014/main" id="{45800669-6472-2933-600B-E4E49D21A948}"/>
              </a:ext>
            </a:extLst>
          </p:cNvPr>
          <p:cNvSpPr>
            <a:spLocks noGrp="1"/>
          </p:cNvSpPr>
          <p:nvPr>
            <p:ph type="body" sz="half" idx="2"/>
          </p:nvPr>
        </p:nvSpPr>
        <p:spPr>
          <a:xfrm>
            <a:off x="581192" y="5260127"/>
            <a:ext cx="11029617" cy="598671"/>
          </a:xfrm>
        </p:spPr>
        <p:txBody>
          <a:bodyPr anchor="ctr">
            <a:normAutofit/>
          </a:bodyPr>
          <a:lstStyle/>
          <a:p>
            <a:r>
              <a:rPr lang="en-US" dirty="0"/>
              <a:t>Anthony Gonzalez</a:t>
            </a:r>
          </a:p>
          <a:p>
            <a:r>
              <a:rPr lang="en-US" dirty="0"/>
              <a:t>Blog Application</a:t>
            </a:r>
          </a:p>
        </p:txBody>
      </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design</Template>
  <TotalTime>304</TotalTime>
  <Words>1389</Words>
  <Application>Microsoft Office PowerPoint</Application>
  <PresentationFormat>Widescreen</PresentationFormat>
  <Paragraphs>105</Paragraphs>
  <Slides>13</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Gill Sans MT</vt:lpstr>
      <vt:lpstr>Wingdings 2</vt:lpstr>
      <vt:lpstr>Custom</vt:lpstr>
      <vt:lpstr>Personal Blog Application</vt:lpstr>
      <vt:lpstr>Technologies</vt:lpstr>
      <vt:lpstr>INTRODUCTION</vt:lpstr>
      <vt:lpstr>Features</vt:lpstr>
      <vt:lpstr>Architecture diagram</vt:lpstr>
      <vt:lpstr>Flow-Chart (User) </vt:lpstr>
      <vt:lpstr>Backend Structure: SpringBoot</vt:lpstr>
      <vt:lpstr>Frontend Structure: angular</vt:lpstr>
      <vt:lpstr>Database Structure: mysql</vt:lpstr>
      <vt:lpstr>Challenges</vt:lpstr>
      <vt:lpstr>Possible additions/expansions in the future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anthony.gonzalez5-W209898099</dc:creator>
  <cp:lastModifiedBy>anthony.gonzalez5-W209898099</cp:lastModifiedBy>
  <cp:revision>7</cp:revision>
  <dcterms:created xsi:type="dcterms:W3CDTF">2025-04-11T19:27:59Z</dcterms:created>
  <dcterms:modified xsi:type="dcterms:W3CDTF">2025-04-12T16:20:13Z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